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Blood Group Detection Using Fingerprint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Team 6: Anudeepth BJ, Maheswar P.M, Arjun Krishna, Hrithunandhan P</a:t>
            </a:r>
          </a:p>
          <a:p>
            <a:pPr/>
            <a:r>
              <a:rPr sz="2200"/>
              <a:t>Institution: College of Engineering Vadakara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Project Abstract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Goal: To develop a non-invasive biometric tool capable of predicting blood groups instantly.</a:t>
            </a:r>
          </a:p>
          <a:p>
            <a:pPr/>
            <a:r>
              <a:rPr sz="2200"/>
              <a:t>• Mechanism: Utilizes real-time fingerprint scanning linked to Artificial Intelligence.</a:t>
            </a:r>
          </a:p>
          <a:p>
            <a:pPr/>
            <a:r>
              <a:rPr sz="2200"/>
              <a:t>• Significance: Removes the need for needles, dedicated hematology labs, and waiting times in critical situations.</a:t>
            </a:r>
          </a:p>
          <a:p>
            <a:pPr/>
            <a:r>
              <a:rPr sz="2200"/>
              <a:t>• Technologies: Harnesses Deep Learning (ResNet50V2) and Computer Vision to extract dermatoglyphic traits.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Introduction to Blood Group Antigens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ABO &amp; Rh Systems: Blood classification relies on the presence of A, B, and RhD antigens on red blood cells.</a:t>
            </a:r>
          </a:p>
          <a:p>
            <a:pPr/>
            <a:r>
              <a:rPr sz="2200"/>
              <a:t>• Genetic Pre-determination: These markers are genetically inherited and set during the first trimester of embryonic development.</a:t>
            </a:r>
          </a:p>
          <a:p>
            <a:pPr/>
            <a:r>
              <a:rPr sz="2200"/>
              <a:t>• Importance in Healthcare: Accurate categorization is fundamental for transfusions, surgeries, and maternal-fetal compatibility.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The Limitations of Current Testing (Invasive)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Phlebotomy Requirement: Traditional tests necessitate venipuncture and drawing whole blood.</a:t>
            </a:r>
          </a:p>
          <a:p>
            <a:pPr/>
            <a:r>
              <a:rPr sz="2200"/>
              <a:t>• Chemical Reagents: Samples must be reacted with specific antisera (Anti-A, Anti-B, Anti-D) to observe agglutination.</a:t>
            </a:r>
          </a:p>
          <a:p>
            <a:pPr/>
            <a:r>
              <a:rPr sz="2200"/>
              <a:t>• Time Consumption: The process from draw to result can take upwards of 15-30 minutes.</a:t>
            </a:r>
          </a:p>
          <a:p>
            <a:pPr/>
            <a:r>
              <a:rPr sz="2200"/>
              <a:t>• Infection Risks: Needle-based methods carry inherent risks of bloodborne pathogen transmission.</a:t>
            </a:r>
          </a:p>
          <a:p>
            <a:pPr/>
            <a:r>
              <a:rPr sz="2200"/>
              <a:t>• Patient Anxiety: Needle phobia causes stress and hesitance in many demographics.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The Need for Non-Invasive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Rapid Response: Mass casualty events (MCEs) and emergency room intakes require immediate typing.</a:t>
            </a:r>
          </a:p>
          <a:p>
            <a:pPr/>
            <a:r>
              <a:rPr sz="2200"/>
              <a:t>• Resource Deficiencies: Remote or underfunded clinics lack refrigeration for reagents and sterile phlebotomy gear.</a:t>
            </a:r>
          </a:p>
          <a:p>
            <a:pPr/>
            <a:r>
              <a:rPr sz="2200"/>
              <a:t>• Pediatric &amp; Geriatric Care: Venipuncture is significantly more difficult and painful in patients with fragile vascular systems.</a:t>
            </a:r>
          </a:p>
          <a:p>
            <a:pPr/>
            <a:r>
              <a:rPr sz="2200"/>
              <a:t>• Streamlining Operations: A scanning system removes bottlenecks caused by lab processing times.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The Biological Link: Dermatoglyphics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Dermatoglyphics: The scientific study of fingerprints, lines, and mounts on human palms.</a:t>
            </a:r>
          </a:p>
          <a:p>
            <a:pPr/>
            <a:r>
              <a:rPr sz="2200"/>
              <a:t>• Embryonic Timing: Fingerprint ridges form between the 13th and 19th weeks of gestation—the exact window when blood and tissue antigens are established.</a:t>
            </a:r>
          </a:p>
          <a:p>
            <a:pPr/>
            <a:r>
              <a:rPr sz="2200"/>
              <a:t>• Volar Pad Development: High correlation between the genetic factors dictating volar pad formation and the mutations associated with ABO/Rh group inheritance.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Literature Review: Statistical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Significant Association: A 2024 study by Buzdar et al. found statistically significant associations (p-value = 0.013) between distinct fingerprint classes and specific blood types.</a:t>
            </a:r>
          </a:p>
          <a:p>
            <a:pPr/>
            <a:r>
              <a:rPr sz="2200"/>
              <a:t>• Pattern Dominance: Research on 150 participant populations frequently identifies the 'Loop' as the dominant ridge configuration (over 60%).</a:t>
            </a:r>
          </a:p>
          <a:p>
            <a:pPr/>
            <a:r>
              <a:rPr sz="2200"/>
              <a:t>• The Limit of Statistics: Traditional statistical methods only yield a 62-80% prediction rate because human visual classification misses micro-ridge details.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Literature Review: Impact of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Transition to AI: Modern approaches utilize Deep Convolutional Neural Networks (CNNs) to decode complex visual arrays.</a:t>
            </a:r>
          </a:p>
          <a:p>
            <a:pPr/>
            <a:r>
              <a:rPr sz="2200"/>
              <a:t>• Superior Feature Extraction: CNNs can perceive microscopic variations in minutiae, sweat pores, and ridge bifurcations that are invisible to the naked eye.</a:t>
            </a:r>
          </a:p>
          <a:p>
            <a:pPr/>
            <a:r>
              <a:rPr sz="2200"/>
              <a:t>• High Accuracy Metric: Recent reviews note that deep learning pipelines utilizing proper Gabor filtering and CNN structures can vault prediction accuracy into the 90-92% range.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Identified Research Gaps (What We Are Solving)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Gap 1 (Algorithmic Focus): Existing biometric extraction logic is tuned solely for identity matching (fingerprint databases), ignoring biomedical predictive features.</a:t>
            </a:r>
          </a:p>
          <a:p>
            <a:pPr/>
            <a:r>
              <a:rPr sz="2200"/>
              <a:t>• Gap 2 (Dataset Constraints): Almost all prior research used static, perfectly controlled offline image datasets, neglecting real-world sensor noise.</a:t>
            </a:r>
          </a:p>
          <a:p>
            <a:pPr/>
            <a:r>
              <a:rPr sz="2200"/>
              <a:t>• Gap 3 (System Integration): There is a distinct absence of cohesive, end-to-end applications that merge a live hardware scanner with a complex AI backend in real-time.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Hardware Integration: Safely interface a commercial biometric scanner with a local computing environment.</a:t>
            </a:r>
          </a:p>
          <a:p>
            <a:pPr/>
            <a:r>
              <a:rPr sz="2200"/>
              <a:t>• Robust Preprocessing: Establish a computer vision pipeline resilient to varied skin tones, moisture levels, and pressure distributions.</a:t>
            </a:r>
          </a:p>
          <a:p>
            <a:pPr/>
            <a:r>
              <a:rPr sz="2200"/>
              <a:t>• AI Development: Train a deep neural network capable of generalizing dermatoglyphic data into 8 specific blood group outputs.</a:t>
            </a:r>
          </a:p>
          <a:p>
            <a:pPr/>
            <a:r>
              <a:rPr sz="2200"/>
              <a:t>• User Experience: Wrap the technology in an accessible, fast-responding graphical GUI for untrained operators.</a:t>
            </a:r>
          </a:p>
          <a:p>
            <a:pPr/>
            <a:r>
              <a:rPr sz="2200"/>
              <a:t>• Optimization: Ensure the inference time (from scan to prediction) falls under 5 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Our system relies on a tightly coupled, layered modular architecture:</a:t>
            </a:r>
          </a:p>
          <a:p>
            <a:pPr/>
            <a:r>
              <a:rPr sz="2200"/>
              <a:t>• Hardware Action Layer: Biometric capture mechanism.</a:t>
            </a:r>
          </a:p>
          <a:p>
            <a:pPr/>
            <a:r>
              <a:rPr sz="2200"/>
              <a:t>• View Layer (GUI): PyQt5 driven interface to initiate commands and view results.</a:t>
            </a:r>
          </a:p>
          <a:p>
            <a:pPr/>
            <a:r>
              <a:rPr sz="2200"/>
              <a:t>• Logic Controller Layer: The Python engine synchronizing inputs, image arrays, and deep learning tensors.</a:t>
            </a:r>
          </a:p>
          <a:p>
            <a:pPr/>
            <a:r>
              <a:rPr sz="2200"/>
              <a:t>• Math &amp; Data Layer: TensorFlow, OpenCV, and CUDA forming the computational backbone.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Hardware Implementation &amp;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The Biometric Sensor: Configured to capture multi-scan arrays to synthesize a high-fidelity rendering of the fingerprint.</a:t>
            </a:r>
          </a:p>
          <a:p>
            <a:pPr/>
            <a:r>
              <a:rPr sz="2200"/>
              <a:t>• Resolution Demands: Scanners are heavily reliant on capturing 500+ DPI images to ensure ridge edges are distinct.</a:t>
            </a:r>
          </a:p>
          <a:p>
            <a:pPr/>
            <a:r>
              <a:rPr sz="2200"/>
              <a:t>• Noise Vulnerability: Scanned images initially contain smudges, sensor artifacts, and ambient light interference that must be structurally resolved before routing to the 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Image Preprocessing (OpenCV)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A multi-stage correction algorithm normalizes the scan for the Neural Network:</a:t>
            </a:r>
          </a:p>
          <a:p>
            <a:pPr/>
            <a:r>
              <a:rPr sz="2200"/>
              <a:t>• Greyscale Conversion: Stripping unnecessary color-channel data to reduce computational memory loads.</a:t>
            </a:r>
          </a:p>
          <a:p>
            <a:pPr/>
            <a:r>
              <a:rPr sz="2200"/>
              <a:t>• Noise Reduction (Gaussian Blur): Smoothing harsh electronic sensor artifacts.</a:t>
            </a:r>
          </a:p>
          <a:p>
            <a:pPr/>
            <a:r>
              <a:rPr sz="2200"/>
              <a:t>• CLAHE Enhancement: Contrast Limited Adaptive Histogram Equalization locally forces ridge-to-valley separation, making lines significantly bolder.</a:t>
            </a:r>
          </a:p>
          <a:p>
            <a:pPr/>
            <a:r>
              <a:rPr sz="2200"/>
              <a:t>• Crucial Symmetry: This entire pipeline is mirrored during both model training and real-time live inference to ensure data consistency.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Deep Learning Model Architecture (ResNet50V2)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Foundation: Implementing the state-of-the-art ResNet50V2 architecture.</a:t>
            </a:r>
          </a:p>
          <a:p>
            <a:pPr/>
            <a:r>
              <a:rPr sz="2200"/>
              <a:t>• Skip Connections: ResNet prevents the 'vanishing gradient' problem in deep networks by allowing data to bypass certain layers.</a:t>
            </a:r>
          </a:p>
          <a:p>
            <a:pPr/>
            <a:r>
              <a:rPr sz="2200"/>
              <a:t>• Deep Feature Extraction: The network uses 50 deep convolutional layers to distill the print into abstract numerical representations.</a:t>
            </a:r>
          </a:p>
          <a:p>
            <a:pPr/>
            <a:r>
              <a:rPr sz="2200"/>
              <a:t>• Custom Classification Head: Replaced the standard output with a custom dense layer specifically targeting 8 categorical nodes (A+, A-, B+, B-, AB+, AB-, O+, O-).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Model Training &amp; Optimization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Data Scarcity: High-resolution annotated fingerprint/blood-group datasets are notoriously difficult to source.</a:t>
            </a:r>
          </a:p>
          <a:p>
            <a:pPr/>
            <a:r>
              <a:rPr sz="2200"/>
              <a:t>• Balancing the Dataset: Mitigated bias by ensuring the training folder (split_dataset/) contained balanced representations across all 8 variants.</a:t>
            </a:r>
          </a:p>
          <a:p>
            <a:pPr/>
            <a:r>
              <a:rPr sz="2200"/>
              <a:t>• Image Augmentation: To prevent overfitting, training images were dynamically rotated, shifted, and skewed to teach the AI to handle misaligned finger placements.</a:t>
            </a:r>
          </a:p>
          <a:p>
            <a:pPr/>
            <a:r>
              <a:rPr sz="2200"/>
              <a:t>• Metric Tracking: Monitored categorical cross-entropy loss and utilized callback checkpoints to secure the best-performing model weights (HDF5 format).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GPU Acceleration &amp; Deployment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The Bottleneck: CPU-based execution of 50-layer convolutions takes seconds to minutes per image, violating the real-time objective.</a:t>
            </a:r>
          </a:p>
          <a:p>
            <a:pPr/>
            <a:r>
              <a:rPr sz="2200"/>
              <a:t>• NVIDIA CUDA Integration: Bridged the application layer directly to the localized RTX GPU processor.</a:t>
            </a:r>
          </a:p>
          <a:p>
            <a:pPr/>
            <a:r>
              <a:rPr sz="2200"/>
              <a:t>• Parallel Computations: CUDA allows thousands of floating-point operations to occur simultaneously.</a:t>
            </a:r>
          </a:p>
          <a:p>
            <a:pPr/>
            <a:r>
              <a:rPr sz="2200"/>
              <a:t>• Performance Leap: Training times dropped from weeks to hours, and real-time live-scan inference time condensed to under 200 milliseconds.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Graphical User Interface (PyQt5)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Motivation: A terminal-based framework is unacceptable for clinical or emergency operators.</a:t>
            </a:r>
          </a:p>
          <a:p>
            <a:pPr/>
            <a:r>
              <a:rPr sz="2200"/>
              <a:t>• Visual Framework: Created a responsive main window utilizing PyQt5 with dedicated layout modules.</a:t>
            </a:r>
          </a:p>
          <a:p>
            <a:pPr/>
            <a:r>
              <a:rPr sz="2200"/>
              <a:t>• Event Handling: Synchronized button clicks (e.g., 'Capture') to immediately trigger hardware interrupts without freezing the main application thread.</a:t>
            </a:r>
          </a:p>
          <a:p>
            <a:pPr/>
            <a:r>
              <a:rPr sz="2200"/>
              <a:t>• Clean Output: Predictability confidence scores and final results are mapped directly back to large, clear GUI text widgets.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Real-Time Operational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Steps from the operator's perspective:</a:t>
            </a:r>
          </a:p>
          <a:p>
            <a:pPr/>
            <a:r>
              <a:rPr sz="2200"/>
              <a:t>1. Initialize System: Load weights into VRAM while the GUI displays.</a:t>
            </a:r>
          </a:p>
          <a:p>
            <a:pPr/>
            <a:r>
              <a:rPr sz="2200"/>
              <a:t>2. Operator Prompt: Patient places digit on the biometric interface.</a:t>
            </a:r>
          </a:p>
          <a:p>
            <a:pPr/>
            <a:r>
              <a:rPr sz="2200"/>
              <a:t>3. Acquisition Lock: Application signals the hardware to snapshot.</a:t>
            </a:r>
          </a:p>
          <a:p>
            <a:pPr/>
            <a:r>
              <a:rPr sz="2200"/>
              <a:t>4. Data Pipeline Execution: Live capture is piped through CLAHE matrices into the configured ResNet50V2 tensor.</a:t>
            </a:r>
          </a:p>
          <a:p>
            <a:pPr/>
            <a:r>
              <a:rPr sz="2200"/>
              <a:t>5. Result Dissemination: The highest probability classification is rendered on-screen instantaneously.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Experimental Results &amp; System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Architectural Success: The integration of physical biometric hardware and PyQt/TensorFlow pipelines proved completely functional and stable.</a:t>
            </a:r>
          </a:p>
          <a:p>
            <a:pPr/>
            <a:r>
              <a:rPr sz="2200"/>
              <a:t>• Preprocessing Impact: Symmetrical CLAHE application demonstrably increased validation accuracy during localized tests.</a:t>
            </a:r>
          </a:p>
          <a:p>
            <a:pPr/>
            <a:r>
              <a:rPr sz="2200"/>
              <a:t>• Speed Metric Reached: System consistently returns processed UI predictions rapidly, passing the &lt;5 seconds mandate.</a:t>
            </a:r>
          </a:p>
          <a:p>
            <a:pPr/>
            <a:r>
              <a:rPr sz="2200"/>
              <a:t>• Test-Time Augmentation (TTA): Employed during final tests to ensure rotated scans still yielded stable and correct outputs.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600"/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rPr sz="2200"/>
              <a:t>• Feasibility Proven: Demonstrated that purely non-invasive blood typing via deep biometric analysis is technologically viable.</a:t>
            </a:r>
          </a:p>
          <a:p>
            <a:pPr/>
            <a:r>
              <a:rPr sz="2200"/>
              <a:t>• Expansion Potential: This technology can be miniaturized into portable embedded systems (like Raspberry Pi edge devices) for extreme remote field use.</a:t>
            </a:r>
          </a:p>
          <a:p>
            <a:pPr/>
            <a:r>
              <a:rPr sz="2200"/>
              <a:t>• Clinical Scaling: Immediate next steps require large-capacity clinical trials to validate accuracy against massive, diverse genomic populations.</a:t>
            </a:r>
          </a:p>
          <a:p>
            <a:pPr/>
            <a:r>
              <a:rPr sz="2200"/>
              <a:t>• Final Vision: Making emergency and primary diagnostic blood typing faster, frictionless, and utterly painless.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